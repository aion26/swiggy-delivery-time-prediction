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Arial"/>
              </a:rPr>
              <a:t>R² Score by Model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BF-4EC8-B8B3-A123C9415B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1BF-4EC8-B8B3-A123C9415B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1BF-4EC8-B8B3-A123C9415BC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1BF-4EC8-B8B3-A123C9415BC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1BF-4EC8-B8B3-A123C9415BCF}"/>
              </c:ext>
            </c:extLst>
          </c:dPt>
          <c:dPt>
            <c:idx val="5"/>
            <c:invertIfNegative val="0"/>
            <c:bubble3D val="0"/>
            <c:spPr>
              <a:solidFill>
                <a:srgbClr val="E403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1BF-4EC8-B8B3-A123C9415B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 Regression</c:v>
                </c:pt>
                <c:pt idx="1">
                  <c:v>KNN Regressor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Gradient Boosting</c:v>
                </c:pt>
                <c:pt idx="5">
                  <c:v>XGBoost (default)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0.51800000000000002</c:v>
                </c:pt>
                <c:pt idx="1">
                  <c:v>0.56000000000000005</c:v>
                </c:pt>
                <c:pt idx="2">
                  <c:v>0.63700000000000001</c:v>
                </c:pt>
                <c:pt idx="3">
                  <c:v>0.80400000000000005</c:v>
                </c:pt>
                <c:pt idx="4">
                  <c:v>0.751</c:v>
                </c:pt>
                <c:pt idx="5">
                  <c:v>0.80500000000000005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1BF-4EC8-B8B3-A123C9415B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70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1280160" y="-274320"/>
            <a:ext cx="3291840" cy="9144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200000">
            <a:off x="-1463040" y="502920"/>
            <a:ext cx="329184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 rot="-1200000">
            <a:off x="10180015" y="6217920"/>
            <a:ext cx="3291840" cy="9144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rot="-1200000">
            <a:off x="10180015" y="5925188"/>
            <a:ext cx="3291840" cy="3200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28" y="777240"/>
            <a:ext cx="4206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691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</a:t>
            </a:r>
            <a:r>
              <a:rPr lang="en-US" sz="14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VATION. </a:t>
            </a:r>
            <a:r>
              <a:rPr lang="en-US" sz="1400" b="1" kern="0" spc="200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</a:t>
            </a:r>
            <a:r>
              <a:rPr lang="en-US" sz="14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ION. ANALY</a:t>
            </a:r>
            <a:r>
              <a:rPr lang="en-US" sz="1400" b="1" kern="0" spc="200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DELIVERY TIME PREDICTION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Regression Project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0" y="5074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endParaRPr lang="en-US" sz="14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Sirajuddin  Shahzaib</a:t>
            </a:r>
            <a:endParaRPr lang="en-US" sz="14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No:470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CRISP-ML(Q) Methodology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26480" y="13716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Selection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Business Insights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pic>
        <p:nvPicPr>
          <p:cNvPr id="5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is one of India's leading online food delivery platforms, connecting customers with restaurants through a digital ordering system.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accurate delivery time estimates (ETA) is critical for customer satisfaction and efficient delivery operations.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 Learning regression model that predicts food delivery time using rider attributes, order details, distance, weather, and traffic conditions.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predictions help improve customer trust, optimize delivery operations, and reduce order cancellations.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0" y="2011680"/>
            <a:ext cx="2011680" cy="201168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build/icon_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037" y="2534717"/>
            <a:ext cx="965606" cy="965606"/>
          </a:xfrm>
          <a:prstGeom prst="rect">
            <a:avLst/>
          </a:prstGeom>
        </p:spPr>
      </p:pic>
      <p:pic>
        <p:nvPicPr>
          <p:cNvPr id="6" name="Image 1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CRISP-ML(Q)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guiding this Machine Learning project from problem understanding to monitoring.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379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 Understanding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delivery-time prediction problem and explore the dataset.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07992" y="1856232"/>
            <a:ext cx="365760" cy="36576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0799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8379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2404872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values, encode categorical fields, scale numeric features.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02752" y="1856232"/>
            <a:ext cx="365760" cy="36576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0275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183794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2404872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regression algorithms on the prepared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3232" y="3867912"/>
            <a:ext cx="365760" cy="36576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84962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416552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RMSE, MSE and R²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07992" y="3867912"/>
            <a:ext cx="365760" cy="36576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07992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84962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7992" y="4416552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tuned model for real-world ETA predictions.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02752" y="3867912"/>
            <a:ext cx="365760" cy="36576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302752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0" y="384962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Maintenance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2752" y="4416552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and retrain as delivery patterns evolve.</a:t>
            </a:r>
            <a:endParaRPr lang="en-US" sz="1050" dirty="0"/>
          </a:p>
        </p:txBody>
      </p:sp>
      <p:pic>
        <p:nvPicPr>
          <p:cNvPr id="34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delivers thousands of food orders every day, and customers expect accurate delivery-time estimates when placing an order.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varies widely due to traffic conditions, weather, distance, rider availability, and multiple simultaneous deliveries.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ETAs lead to customer dissatisfaction, order cancellations, and operational inefficiencies.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ultimately results in reduced customer trust, fewer repeat orders, and increased cancellation / refund costs.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0" y="2194560"/>
            <a:ext cx="1920240" cy="192024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build/icon_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262" y="2693822"/>
            <a:ext cx="921715" cy="921715"/>
          </a:xfrm>
          <a:prstGeom prst="rect">
            <a:avLst/>
          </a:prstGeom>
        </p:spPr>
      </p:pic>
      <p:pic>
        <p:nvPicPr>
          <p:cNvPr id="6" name="Image 1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Learning-based delivery-time prediction system.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expected delivery time for each individual orders.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ETA (Estimated Time of Arrival) accuracy shown to customers.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customer satisfaction with reliable delivery estimates.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optimize delivery operations and rider allocation.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delivery delays and order cancellations.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0" y="2194560"/>
            <a:ext cx="1920240" cy="192024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build/icon_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262" y="2693822"/>
            <a:ext cx="921715" cy="921715"/>
          </a:xfrm>
          <a:prstGeom prst="rect">
            <a:avLst/>
          </a:prstGeom>
        </p:spPr>
      </p:pic>
      <p:pic>
        <p:nvPicPr>
          <p:cNvPr id="6" name="Image 1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052560" y="411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052560" y="4754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45,502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052560" y="10972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26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Columns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93732"/>
              </p:ext>
            </p:extLst>
          </p:nvPr>
        </p:nvGraphicFramePr>
        <p:xfrm>
          <a:off x="548640" y="1417320"/>
          <a:ext cx="8138160" cy="4343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rider_id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delivery partner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the delivery partner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customer rating of the rider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vehicle_condition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of the rider's vehicle (0=Poor, 1=Average, 2=Good)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type_of_vehicle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used for delivery (motorcycle, scooter, etc.)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type_of_order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food ordered (snack, meal, drinks, buffet)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multiple_deliveries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deliveries assigned to the rider in a single trip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pickup_time_minutes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taken by the restaurant to prepare the order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is_weekend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order was placed on a weekend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(contd.)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781353"/>
              </p:ext>
            </p:extLst>
          </p:nvPr>
        </p:nvGraphicFramePr>
        <p:xfrm>
          <a:off x="548640" y="1234440"/>
          <a:ext cx="11064240" cy="41148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during delivery (sunny, cloudy, fog, stormy, sandstorms, windy)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condition during delivery (low, medium, high, jam)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order was placed on a festival day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city_type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of city (semi-urban, urban, metropolitan)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city_name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of the city (BANG, HYD, CHEN, INDO, etc.)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in km between restaurant and delivery location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order_day / order_month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month and month the order was placed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order_day_of_week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of the week (Monday - Sunday)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order_time_hour / order_time_of_day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 (0-23) and time bucket of the order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40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time_taken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- actual delivery time in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numeric features with delivery time (time_taken)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36676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66760" y="2057400"/>
            <a:ext cx="3154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multiple_deliveries per trip and longer distance strongly increase delivery time.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rider age shows a mild positive correlation with delivery time.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rider ratings are linked to faster deliveries (negative correlation).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vehicle_condition is also linked to shorter delivery times.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missing-data duplicates were found in the dataset.</a:t>
            </a:r>
            <a:endParaRPr lang="en-US" sz="1100" dirty="0"/>
          </a:p>
        </p:txBody>
      </p:sp>
      <p:pic>
        <p:nvPicPr>
          <p:cNvPr id="8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22E80E-963C-2AFB-57F4-3CE9A35B8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3118" y="1463040"/>
            <a:ext cx="8291278" cy="5265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columns not useful for modeling: rider_id, order_date, restaurant_latitude/longitude, delivery_latitude/longitude.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target variable as time_taken and separated features (X) from the target (y).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using SimpleImputer: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 → Median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ratings, multiple_deliveries, pickup_time_minutes,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order_time_hour, distance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30632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→ Most Frequent (Mode)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3566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traffic, festival, city_type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counts included: age (1,854), ratings (1,908), weather (525), traffic (510), multiple_deliveries (993), festival (228), city_type (1,198), pickup_time_minutes (1,640).</a:t>
            </a:r>
            <a:endParaRPr lang="en-US" sz="1250" dirty="0"/>
          </a:p>
        </p:txBody>
      </p:sp>
      <p:pic>
        <p:nvPicPr>
          <p:cNvPr id="12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– Encoding &amp; Scaling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standardized with StandardScaler (mean = 0, std = 1).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applied to nominal columns: weather, type_of_order, type_of_vehicle, festival, city_name, order_day_of_week.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applied to ordered columns: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→ </a:t>
            </a:r>
            <a:r>
              <a:rPr lang="en-US" sz="1350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['low', 'medium', 'high', 'jam']</a:t>
            </a: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city_type → </a:t>
            </a:r>
            <a:r>
              <a:rPr lang="en-US" sz="1350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['semiurban', 'urban', 'metropolitan']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Column Transformer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41605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34640" y="4160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41605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C80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4160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4389120"/>
            <a:ext cx="914400" cy="365760"/>
          </a:xfrm>
          <a:prstGeom prst="rightArrow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46720" y="416052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AFAFA"/>
          </a:solidFill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46720" y="4160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Split: 70% Training / 30% Testing (random_state = 42)</a:t>
            </a:r>
            <a:endParaRPr lang="en-US" sz="1400" dirty="0"/>
          </a:p>
        </p:txBody>
      </p:sp>
      <p:pic>
        <p:nvPicPr>
          <p:cNvPr id="17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treated as a Regression task since the target variable, delivery time (in minutes), is continuous. Multiple algorithms were trained and compared using the same preprocessing pipeline: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2350008"/>
            <a:ext cx="512064" cy="512064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build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4780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659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9659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26280" y="2350008"/>
            <a:ext cx="512064" cy="512064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build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247802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9659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 Regressor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19659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321040" y="2350008"/>
            <a:ext cx="512064" cy="512064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build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4780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19659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520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31520" y="3904488"/>
            <a:ext cx="512064" cy="512064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build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03250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43400" y="3520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526280" y="3904488"/>
            <a:ext cx="512064" cy="512064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/home/claude/build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403250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208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38160" y="35204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321040" y="3904488"/>
            <a:ext cx="512064" cy="512064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/home/claude/build/icon_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403250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0684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4864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was trained using a Pipeline (Preprocessing + Algorithm) for consistency and reproducibility.</a:t>
            </a:r>
            <a:endParaRPr lang="en-US" sz="1300" dirty="0"/>
          </a:p>
        </p:txBody>
      </p:sp>
      <p:pic>
        <p:nvPicPr>
          <p:cNvPr id="29" name="Image 6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 on held-out test data using MSE, RMSE and R² score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943600" cy="3200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Regressor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3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3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3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66560" y="1508760"/>
          <a:ext cx="4937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RandomizedSearchCV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tuned: XGBoost Regressor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cross-validation, scoring = R²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random parameter combinations tested (n_iter = 20)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→ [100, 200, 300, 500]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→ [0.01, 0.05, 0.1, 0.2]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→ [3, 5, 7, 9]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→ [0.7, 0.8, 0.9, 1.0]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 → [0.7, 0.8, 0.9, 1.0]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 Found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74520"/>
          <a:ext cx="4937760" cy="1828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colsample_bytree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C8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46520" y="3977640"/>
            <a:ext cx="4937760" cy="18288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46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R² Score: 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(tuned): 0.871   |   Test R² (tuned): 0.818</a:t>
            </a:r>
            <a:endParaRPr lang="en-US" sz="1400" dirty="0"/>
          </a:p>
        </p:txBody>
      </p:sp>
      <p:pic>
        <p:nvPicPr>
          <p:cNvPr id="13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 using MAE, RMSE (error metrics) and R² score (goodness of fit).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XGBoost Regressor achieved the strongest, most balanced performance — high test R² with a manageable train–test gap (low overfitting compared to the untuned Decision Tree).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6583680" cy="2560320"/>
          </a:xfrm>
          <a:prstGeom prst="roundRect">
            <a:avLst>
              <a:gd name="adj" fmla="val 3571"/>
            </a:avLst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35204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build/icon_troph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47" y="3829507"/>
            <a:ext cx="570586" cy="570586"/>
          </a:xfrm>
          <a:prstGeom prst="rect">
            <a:avLst/>
          </a:prstGeom>
        </p:spPr>
      </p:pic>
      <p:pic>
        <p:nvPicPr>
          <p:cNvPr id="7" name="Image 1" descr="/home/claude/build/icon_trophy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4904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0" y="3566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XGBoost Regressor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via RandomizedSearchCV)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22960" y="4892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= 0.818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4.16 min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06640" y="118872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76352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0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635240" y="182880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 among all models tested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 / MAE on test data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between distance, traffic, weather and delivery time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mixed feature types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training and fast inference for production use</a:t>
            </a:r>
            <a:endParaRPr lang="en-US" sz="1200" dirty="0"/>
          </a:p>
        </p:txBody>
      </p:sp>
      <p:pic>
        <p:nvPicPr>
          <p:cNvPr id="13" name="Image 2" descr="/home/claude/assets/innomatics_logo_on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Business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2296" cy="13716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3441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multiple_deliveries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juggling several orders on one trip show the strongest link to longer delivery times.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82296" cy="1371600"/>
          </a:xfrm>
          <a:prstGeom prst="rect">
            <a:avLst/>
          </a:prstGeom>
          <a:solidFill>
            <a:srgbClr val="FC80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46520" y="13441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7099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restaurant-to-customer distance is the next biggest driver of delivery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2296" cy="13716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age &amp; ratings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3101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Higher-rated, experienced riders tend to complete deliveries faster.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834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72200" y="2834640"/>
            <a:ext cx="82296" cy="1371600"/>
          </a:xfrm>
          <a:prstGeom prst="rect">
            <a:avLst/>
          </a:prstGeom>
          <a:solidFill>
            <a:srgbClr val="FC80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2944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vehicle_condition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3101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Better-maintained vehicles are associated with shorter delivery times.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2296" cy="13716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544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order_time_hour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9103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shifts moderately across different hours of the day.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434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82296" cy="1371600"/>
          </a:xfrm>
          <a:prstGeom prst="rect">
            <a:avLst/>
          </a:prstGeom>
          <a:solidFill>
            <a:srgbClr val="FC80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6520" y="4544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weather &amp; festivals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46520" y="49103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analysis (EDA) shows heavy traffic, poor weather, and festival days visibly stretch delivery time.</a:t>
            </a:r>
            <a:endParaRPr lang="en-US" sz="1100" dirty="0"/>
          </a:p>
        </p:txBody>
      </p:sp>
      <p:pic>
        <p:nvPicPr>
          <p:cNvPr id="27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tuned XGBoost model to power live ETA predictions shown to customers.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carefully sequence multiple_deliveries per trip during peak hours to control delivery-time spikes.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rider allocation and route optimization on long-distance orders.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traffic- and weather-aware buffers into ETAs during high-traffic zones and adverse weather.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festival-specific staffing and planning to absorb demand surges.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vehicle maintenance and reward high-rated, experienced riders.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retrain the model as new order and traffic data becomes available.</a:t>
            </a:r>
            <a:endParaRPr lang="en-US" sz="1550" dirty="0"/>
          </a:p>
        </p:txBody>
      </p:sp>
      <p:pic>
        <p:nvPicPr>
          <p:cNvPr id="4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589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 substantial volume of missing values across numerical and categorical fields.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best-performing model among six different regression algorithms.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hyperparameters efficiently without excessive computation time.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model complexity against bias variance tradeoff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778240" y="2194560"/>
            <a:ext cx="2103120" cy="21031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build/icon_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51" y="2741371"/>
            <a:ext cx="1009498" cy="1009498"/>
          </a:xfrm>
          <a:prstGeom prst="rect">
            <a:avLst/>
          </a:prstGeom>
        </p:spPr>
      </p:pic>
      <p:pic>
        <p:nvPicPr>
          <p:cNvPr id="6" name="Image 1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Other Delivery Services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modeling approach — feature engineering + regression — can be applied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build/icon_motor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933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Platforms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FC801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build/icon_clou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260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Quick-Commerce Delivery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build/icon_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47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Last-Mile Delivery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FC801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build/icon_mapmark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48056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3251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Services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/home/claude/build/icon_co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5780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102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Fleet Companies</a:t>
            </a:r>
            <a:endParaRPr lang="en-US" sz="1500" dirty="0"/>
          </a:p>
        </p:txBody>
      </p:sp>
      <p:pic>
        <p:nvPicPr>
          <p:cNvPr id="20" name="Image 5" descr="/home/claude/assets/innomatics_logo_onl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64305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addressed Swiggy’s challenge of accurate delivery-time prediction (ETA) using a robust Machine Learning pipeline. The tuned XGBoost model captures the impact of distance, traffic, weather, rider performance and order characteristics, delivering a test R² of 0.818.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pic>
        <p:nvPicPr>
          <p:cNvPr id="5" name="Image 0" descr="/home/claude/build/icon_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6324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9992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customer trust and satisfaction</a:t>
            </a:r>
            <a:endParaRPr lang="en-US" sz="1400" dirty="0"/>
          </a:p>
        </p:txBody>
      </p:sp>
      <p:pic>
        <p:nvPicPr>
          <p:cNvPr id="7" name="Image 1" descr="/home/claude/build/icon_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6616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5021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order cancellations and refund costs</a:t>
            </a:r>
            <a:endParaRPr lang="en-US" sz="1400" dirty="0"/>
          </a:p>
        </p:txBody>
      </p:sp>
      <p:pic>
        <p:nvPicPr>
          <p:cNvPr id="9" name="Image 2" descr="/home/claude/build/icon_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690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0050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rider allocation and operational efficiency</a:t>
            </a:r>
            <a:endParaRPr lang="en-US" sz="1400" dirty="0"/>
          </a:p>
        </p:txBody>
      </p:sp>
      <p:pic>
        <p:nvPicPr>
          <p:cNvPr id="11" name="Image 3" descr="/home/claude/build/icon_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7200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507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Decreases support workload from delivery delays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production-ready, deployable ML pipeline has been built — ready to be integrated into a real-time ETA service.</a:t>
            </a:r>
            <a:endParaRPr lang="en-US" sz="1350" dirty="0"/>
          </a:p>
        </p:txBody>
      </p:sp>
      <p:pic>
        <p:nvPicPr>
          <p:cNvPr id="14" name="Image 4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7135" y="6263640"/>
            <a:ext cx="182880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07128" y="18288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pic>
        <p:nvPicPr>
          <p:cNvPr id="5" name="Image 0" descr="/home/claude/assets/innomatics_logo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6355080"/>
            <a:ext cx="1600200" cy="2962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1280160" y="-274320"/>
            <a:ext cx="3291840" cy="9144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-1200000">
            <a:off x="10180015" y="6217920"/>
            <a:ext cx="3291840" cy="914400"/>
          </a:xfrm>
          <a:prstGeom prst="rect">
            <a:avLst/>
          </a:prstGeom>
          <a:solidFill>
            <a:srgbClr val="E40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pic>
        <p:nvPicPr>
          <p:cNvPr id="5" name="Image 0" descr="/home/claude/build/icon_handshake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468880"/>
            <a:ext cx="2194560" cy="1828800"/>
          </a:xfrm>
          <a:prstGeom prst="rect">
            <a:avLst/>
          </a:prstGeom>
        </p:spPr>
      </p:pic>
      <p:pic>
        <p:nvPicPr>
          <p:cNvPr id="6" name="Image 1" descr="/home/claude/assets/innomatics_logo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008" y="5212080"/>
            <a:ext cx="292608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1774</Words>
  <Application>Microsoft Office PowerPoint</Application>
  <PresentationFormat>Widescreen</PresentationFormat>
  <Paragraphs>300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Delivery Time Prediction</dc:title>
  <dc:subject>PptxGenJS Presentation</dc:subject>
  <dc:creator>Innomatics Research Labs</dc:creator>
  <cp:lastModifiedBy>Mohammed Sirajuddin</cp:lastModifiedBy>
  <cp:revision>4</cp:revision>
  <dcterms:created xsi:type="dcterms:W3CDTF">2026-07-04T07:17:24Z</dcterms:created>
  <dcterms:modified xsi:type="dcterms:W3CDTF">2026-07-04T10:57:46Z</dcterms:modified>
</cp:coreProperties>
</file>